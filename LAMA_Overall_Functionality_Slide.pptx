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slide" Target="slide6.xml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1757212" cy="6432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rPr dirty="0"/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rPr lang="en-US" dirty="0"/>
              <a:t>Migrated Project</a:t>
            </a:r>
            <a:endParaRPr dirty="0"/>
          </a:p>
          <a:p>
            <a:pPr>
              <a:defRPr sz="800">
                <a:solidFill>
                  <a:srgbClr val="4A4F60"/>
                </a:solidFill>
              </a:defRPr>
            </a:pPr>
            <a:r>
              <a:rPr dirty="0"/>
              <a:t>JSP / Struts -&gt; Spring Boot</a:t>
            </a:r>
            <a:br>
              <a:rPr dirty="0"/>
            </a:br>
            <a:r>
              <a:rPr dirty="0"/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37475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/>
              <a:t>LAMA</a:t>
            </a:r>
            <a:r>
              <a:rPr dirty="0"/>
              <a:t>: Compact Functional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Professional view of orchestrator-led capabilities and end-to-end functional outcomes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8790127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273552" y="1261872"/>
            <a:ext cx="1648297" cy="603504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28416" y="1371600"/>
            <a:ext cx="153856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 b="1">
                <a:solidFill>
                  <a:srgbClr val="1C1E28"/>
                </a:solidFill>
              </a:defRPr>
            </a:pPr>
            <a:r>
              <a:t>1 Discovery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47872" y="1572768"/>
            <a:ext cx="1099657" cy="201168"/>
          </a:xfrm>
          <a:prstGeom prst="round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C1E28"/>
                </a:solidFill>
              </a:defRPr>
            </a:pPr>
            <a:r>
              <a:t>FROZEN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95001" y="1261872"/>
            <a:ext cx="1648297" cy="603504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49865" y="1371600"/>
            <a:ext cx="153856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 b="1">
                <a:solidFill>
                  <a:srgbClr val="1C1E28"/>
                </a:solidFill>
              </a:defRPr>
            </a:pPr>
            <a:r>
              <a:t>2 Data Model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69321" y="1572768"/>
            <a:ext cx="1099657" cy="201168"/>
          </a:xfrm>
          <a:prstGeom prst="round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C1E28"/>
                </a:solidFill>
              </a:defRPr>
            </a:pPr>
            <a:r>
              <a:t>FROZEN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16450" y="1261872"/>
            <a:ext cx="1648297" cy="603504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71314" y="1371600"/>
            <a:ext cx="153856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 b="1">
                <a:solidFill>
                  <a:srgbClr val="1C1E28"/>
                </a:solidFill>
              </a:defRPr>
            </a:pPr>
            <a:r>
              <a:t>3 Architecture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0770" y="1572768"/>
            <a:ext cx="1099657" cy="201168"/>
          </a:xfrm>
          <a:prstGeom prst="round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C1E28"/>
                </a:solidFill>
              </a:defRPr>
            </a:pPr>
            <a:r>
              <a:t>FROZEN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37900" y="1261872"/>
            <a:ext cx="1648297" cy="603504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92764" y="1371600"/>
            <a:ext cx="153856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 b="1">
                <a:solidFill>
                  <a:srgbClr val="1C1E28"/>
                </a:solidFill>
              </a:defRPr>
            </a:pPr>
            <a:r>
              <a:t>4 CodeGen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12220" y="1572768"/>
            <a:ext cx="1099657" cy="201168"/>
          </a:xfrm>
          <a:prstGeom prst="roundRect">
            <a:avLst/>
          </a:prstGeom>
          <a:solidFill>
            <a:srgbClr val="DA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C674B"/>
                </a:solidFill>
              </a:defRPr>
            </a:pPr>
            <a:r>
              <a:t>READY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59349" y="1261872"/>
            <a:ext cx="1648297" cy="603504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14213" y="1371600"/>
            <a:ext cx="1538569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" b="1">
                <a:solidFill>
                  <a:srgbClr val="1C1E28"/>
                </a:solidFill>
              </a:defRPr>
            </a:pPr>
            <a:r>
              <a:t>5 Living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33669" y="1572768"/>
            <a:ext cx="1099657" cy="201168"/>
          </a:xfrm>
          <a:prstGeom prst="round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5F6778"/>
                </a:solidFill>
              </a:defRPr>
            </a:pPr>
            <a:r>
              <a:t>SOON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45536" y="2157984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145536" y="2157984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18688" y="2194560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Factory AI Guidance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6976" y="2450591"/>
            <a:ext cx="265176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Purpose: guide stage progression with context.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Functions: intake, gap prompts, next-best actions.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Control: approval-based progression.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Outcome: reduced ambiguity and faster start.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4768" y="2157984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144768" y="2157984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2194560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2450591"/>
            <a:ext cx="265176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Purpose: choose model per task complexity.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Functions: compare quality/speed/depth.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Control: governed model switching.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Outcome: more reliable generated outputs.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2157984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44000" y="2157984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17152" y="2194560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Chat Correction &amp; Optimization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450591"/>
            <a:ext cx="265176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Purpose: iteratively improve artifacts.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Functions: correct, patch, optimize, regenerate.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Control: user-led accept/apply decisions.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Outcome: lower rework and better fidelity.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45536" y="3877056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145536" y="3877056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18688" y="3913632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Data Modeling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36976" y="4169664"/>
            <a:ext cx="2255746" cy="789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Purpose: build business-ready data structures.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Functions: entity mapping, model shaping, </a:t>
            </a:r>
            <a:endParaRPr lang="en-US" dirty="0"/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migration alignment.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Control: stage freeze validations.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Outcome: implementation-ready data contract.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44768" y="3877056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44768" y="3877056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17920" y="3913632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Architecture Sections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4169664"/>
            <a:ext cx="2311851" cy="789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Purpose: structure services and design decisions.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Functions: decomposition, section refinement, </a:t>
            </a:r>
            <a:endParaRPr lang="en-US" dirty="0"/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flow alignment.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Control: review checkpoints before downstream.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rPr dirty="0"/>
              <a:t>Outcome: clearer design and lower delivery risk.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3877056"/>
            <a:ext cx="283464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144000" y="3877056"/>
            <a:ext cx="2834640" cy="23774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17152" y="3913632"/>
            <a:ext cx="26883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Target Stack Recommendation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35440" y="4169664"/>
            <a:ext cx="2651760" cy="1225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Purpose: select best-fit modernization stack.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Functions: option analysis + contextual rationale.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Control: human decision with AI evidence.</a:t>
            </a:r>
          </a:p>
          <a:p>
            <a:pPr>
              <a:spcAft>
                <a:spcPts val="100"/>
              </a:spcAft>
              <a:defRPr sz="840">
                <a:solidFill>
                  <a:srgbClr val="4A4F60"/>
                </a:solidFill>
              </a:defRPr>
            </a:pPr>
            <a:r>
              <a:t>Outcome: confident strategic technology choice.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45536" y="5641848"/>
            <a:ext cx="8790127" cy="685800"/>
          </a:xfrm>
          <a:prstGeom prst="round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55264" y="5797296"/>
            <a:ext cx="8570671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40">
                <a:solidFill>
                  <a:srgbClr val="FFFFFF"/>
                </a:solidFill>
              </a:defRPr>
            </a:pPr>
            <a:r>
              <a:t>Executive Signal: Orchestrator + Model Control + Chat Optimization delivers disciplined modernization with faster cycles and stronger outcome quality.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Discovery &amp; SRS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Captures legacy context and establishes a frozen functional baseline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Drive clarity from unstructured legacy inputs into a validated requirement baseline before design and build stages.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Legacy asset ingestion and contextual scoping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Gap-driven questioning for incomplete business rules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Collaborative refinement of requirement statements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SRS baseline preparation for freeze and traceability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Human approval before freeze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Version-tracked baseline checkpoints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Scope lock to protect downstream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Legacy inputs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Context extraction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Review + edits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Frozen SRS baseline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Improves requirement confidence early, reducing downstream ambiguity and costly redesign cycles.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Data Modeling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Shapes business entities into structured model outputs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Translate functional intent into coherent data structures that support both operational execution and analytical insight.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Entity and relationship consolidation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Operational/analytical model structuring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Business-rule alignment in model definitions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Migration-oriented mapping continuity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Functional validation of model assumptions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Review gates before architecture handoff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Consistency checks for traceable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Functional intent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Model synthesis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Human validation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Approved model artifacts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Creates a dependable data foundation for architecture and implementation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Defines service structure and design storyline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Convert model outputs into service-level architecture sections that can be reviewed, improved, and approved with confidence.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Service boundary definition by domain responsibility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Architecture section generation and iteration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Flow and interface alignment to business processes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Cross-section coherence for implementation readiness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Section-by-section approval checkpoints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Change-safe iteration through orchestrator control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Readiness checks before code generation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Modeled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Design synthesis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Architect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Approved architecture set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Reduces design uncertainty and accelerates implementation alignment across teams.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Code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Converts approved design into implementation assets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Generate target-oriented code artifacts while allowing fast correction loops to preserve domain accuracy and delivery pace.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Service-aligned artifact generation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Functional correction through guided edits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Optimization-based regeneration for quality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Package/export readiness for handoff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User-controlled apply/revise actions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Stage readiness markers before freeze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Traceable change progression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Approved design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Asset generation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Refine + optimize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Delivery-ready package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Improves speed-to-implementation without losing governance or functional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1709122" cy="6432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rPr dirty="0"/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rPr lang="en-US" dirty="0" err="1"/>
              <a:t>Migrated</a:t>
            </a:r>
            <a:r>
              <a:rPr dirty="0" err="1"/>
              <a:t>_Project</a:t>
            </a:r>
            <a:endParaRPr dirty="0"/>
          </a:p>
          <a:p>
            <a:pPr>
              <a:defRPr sz="800">
                <a:solidFill>
                  <a:srgbClr val="4A4F60"/>
                </a:solidFill>
              </a:defRPr>
            </a:pPr>
            <a:r>
              <a:rPr dirty="0"/>
              <a:t>JSP / Struts -&gt; Spring Boot</a:t>
            </a:r>
            <a:br>
              <a:rPr dirty="0"/>
            </a:br>
            <a:r>
              <a:rPr dirty="0"/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Living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Maintains solution quality after initial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57903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rPr dirty="0"/>
              <a:t>Support continuous modernization </a:t>
            </a:r>
            <a:r>
              <a:rPr lang="en-US" dirty="0"/>
              <a:t>through </a:t>
            </a:r>
            <a:r>
              <a:rPr dirty="0"/>
              <a:t>validation, drift awareness, and controlled iterative improvement.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Ongoing functional verification cycles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Detection of drift against agreed intent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Feedback loops into orchestrated updates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Sustained quality across lifecycle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Periodic review checkpoints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Controlled acceptance of change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Alignment to baseline business expectations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Running solution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rPr dirty="0"/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Validation insights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Governed updates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Long-term quality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Enables modernization to remain stable, relevant, and continuously aligned to business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Console Model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Orchestrates model selection for task-fit output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Provide transparent control over model behavior so each functional task uses the best strategy for speed, depth, and precision.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Model routing by task complexity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Quality-speed tradeoff balancing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Scenario-based model comparison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Stable model governance per workflow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User-led model selection policy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Controlled switching without flow break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Consistency checks on output quality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Task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Model routing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Quality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Best-fit responses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Delivers better outcome consistency by matching model behavior to functional intent.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Chat Correction &amp; Optimization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Drives rapid improvement through conversational loops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Enable users to correct, optimize, and regenerate outputs in-place until artifacts meet expected business fidelity.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Natural-language corrections on generated content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Targeted optimization instructions for improvement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Quick re-generation with context retention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Incremental refinement without full restart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Human acceptance before applying updates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Clear correction history in workflow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Boundary controls for scope-safe edits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Draft artifact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Chat corrections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Iterative optimization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Improved artifact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Cuts iteration time while increasing relevance and quality of modernization outputs.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Target Stack Recommendation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Supports confident technology direction decisions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Analyze context and constraints to recommend target modernization stack options aligned to migration priorities.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Legacy-context profiling for informed options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Comparative evaluation of stack candidates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Rationale-backed recommendation outputs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Decision support aligned to business goals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Human-in-the-loop stack finalization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Tradeoff visibility before commitment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Governed recommendation adoption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Legacy profile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Option evaluation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Stakeholder review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Approved stack direction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Improves strategic alignment and reduces risk in target technology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6F7FA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9456" y="201168"/>
            <a:ext cx="530352" cy="5303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C1E28"/>
                </a:solidFill>
              </a:defRPr>
            </a:pPr>
            <a:r>
              <a:t>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9456"/>
            <a:ext cx="192024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2E38"/>
                </a:solidFill>
              </a:defRPr>
            </a:pPr>
            <a:r>
              <a:t>LAMA</a:t>
            </a:r>
          </a:p>
          <a:p>
            <a:pPr>
              <a:defRPr sz="830">
                <a:solidFill>
                  <a:srgbClr val="4A4F60"/>
                </a:solidFill>
              </a:defRPr>
            </a:pPr>
            <a:r>
              <a:t>Legacy Application</a:t>
            </a:r>
            <a:br/>
            <a:r>
              <a:t>Modernisation AI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841248"/>
            <a:ext cx="2606040" cy="969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PROJECT</a:t>
            </a:r>
          </a:p>
          <a:p>
            <a:pPr>
              <a:defRPr sz="1100" b="1">
                <a:solidFill>
                  <a:srgbClr val="1C1E28"/>
                </a:solidFill>
              </a:defRPr>
            </a:pPr>
            <a:r>
              <a:t>TEST_Project_40fe6264</a:t>
            </a:r>
          </a:p>
          <a:p>
            <a:pPr>
              <a:defRPr sz="800">
                <a:solidFill>
                  <a:srgbClr val="4A4F60"/>
                </a:solidFill>
              </a:defRPr>
            </a:pPr>
            <a:r>
              <a:t>JSP / Struts -&gt; Spring Boot</a:t>
            </a:r>
            <a:br/>
            <a:r>
              <a:t>Java 21 / Microservices /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856231"/>
            <a:ext cx="2651760" cy="9144"/>
          </a:xfrm>
          <a:prstGeom prst="rect">
            <a:avLst/>
          </a:prstGeom>
          <a:solidFill>
            <a:srgbClr val="D6D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9456" y="1920240"/>
            <a:ext cx="2560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80" b="1">
                <a:solidFill>
                  <a:srgbClr val="787C89"/>
                </a:solidFill>
              </a:defRPr>
            </a:pPr>
            <a:r>
              <a:t>ORCHESTRATOR LAYER</a:t>
            </a:r>
          </a:p>
        </p:txBody>
      </p:sp>
      <p:sp>
        <p:nvSpPr>
          <p:cNvPr id="10" name="Rounded Rectangle 9">
            <a:hlinkClick r:id="rId2" action="ppaction://hlinksldjump"/>
          </p:cNvPr>
          <p:cNvSpPr/>
          <p:nvPr/>
        </p:nvSpPr>
        <p:spPr>
          <a:xfrm>
            <a:off x="192024" y="213055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Home Flow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192024" y="250545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1. Discovery &amp; SRS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192024" y="288036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2. Data Model</a:t>
            </a:r>
          </a:p>
        </p:txBody>
      </p:sp>
      <p:sp>
        <p:nvSpPr>
          <p:cNvPr id="13" name="Rounded Rectangle 12">
            <a:hlinkClick r:id="rId5" action="ppaction://hlinksldjump"/>
          </p:cNvPr>
          <p:cNvSpPr/>
          <p:nvPr/>
        </p:nvSpPr>
        <p:spPr>
          <a:xfrm>
            <a:off x="192024" y="325526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3. Architecture</a:t>
            </a:r>
          </a:p>
        </p:txBody>
      </p:sp>
      <p:sp>
        <p:nvSpPr>
          <p:cNvPr id="14" name="Rounded Rectangle 13">
            <a:hlinkClick r:id="rId6" action="ppaction://hlinksldjump"/>
          </p:cNvPr>
          <p:cNvSpPr/>
          <p:nvPr/>
        </p:nvSpPr>
        <p:spPr>
          <a:xfrm>
            <a:off x="192024" y="3630168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4. Code Generation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192024" y="4005072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5. Living System</a:t>
            </a:r>
          </a:p>
        </p:txBody>
      </p:sp>
      <p:sp>
        <p:nvSpPr>
          <p:cNvPr id="16" name="Rounded Rectangle 15">
            <a:hlinkClick r:id="rId8" action="ppaction://hlinksldjump"/>
          </p:cNvPr>
          <p:cNvSpPr/>
          <p:nvPr/>
        </p:nvSpPr>
        <p:spPr>
          <a:xfrm>
            <a:off x="192024" y="4379976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Console Model Layer</a:t>
            </a:r>
          </a:p>
        </p:txBody>
      </p:sp>
      <p:sp>
        <p:nvSpPr>
          <p:cNvPr id="17" name="Rounded Rectangle 16">
            <a:hlinkClick r:id="rId9" action="ppaction://hlinksldjump"/>
          </p:cNvPr>
          <p:cNvSpPr/>
          <p:nvPr/>
        </p:nvSpPr>
        <p:spPr>
          <a:xfrm>
            <a:off x="192024" y="4754880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Chat Optimization Loop</a:t>
            </a:r>
          </a:p>
        </p:txBody>
      </p:sp>
      <p:sp>
        <p:nvSpPr>
          <p:cNvPr id="18" name="Rounded Rectangle 17">
            <a:hlinkClick r:id="rId10" action="ppaction://hlinksldjump"/>
          </p:cNvPr>
          <p:cNvSpPr/>
          <p:nvPr/>
        </p:nvSpPr>
        <p:spPr>
          <a:xfrm>
            <a:off x="192024" y="5129784"/>
            <a:ext cx="2651760" cy="3383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0">
                <a:solidFill>
                  <a:srgbClr val="1C1E28"/>
                </a:solidFill>
              </a:defRPr>
            </a:pPr>
            <a:r>
              <a:t>Recommendation Engine</a:t>
            </a:r>
          </a:p>
        </p:txBody>
      </p:sp>
      <p:sp>
        <p:nvSpPr>
          <p:cNvPr id="19" name="Rounded Rectangle 18">
            <a:hlinkClick r:id="rId11" action="ppaction://hlinksldjump"/>
          </p:cNvPr>
          <p:cNvSpPr/>
          <p:nvPr/>
        </p:nvSpPr>
        <p:spPr>
          <a:xfrm>
            <a:off x="192024" y="5504688"/>
            <a:ext cx="2651760" cy="338328"/>
          </a:xfrm>
          <a:prstGeom prst="roundRect">
            <a:avLst/>
          </a:prstGeom>
          <a:solidFill>
            <a:srgbClr val="FFE600"/>
          </a:solidFill>
          <a:ln>
            <a:solidFill>
              <a:srgbClr val="1C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840" b="1">
                <a:solidFill>
                  <a:srgbClr val="1C1E28"/>
                </a:solidFill>
              </a:defRPr>
            </a:pPr>
            <a:r>
              <a:t>Executive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" y="635508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80">
                <a:solidFill>
                  <a:srgbClr val="828694"/>
                </a:solidFill>
              </a:defRPr>
            </a:pPr>
            <a:r>
              <a:t>Menu items are clickable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99232" y="0"/>
            <a:ext cx="9082735" cy="731520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9232" y="676656"/>
            <a:ext cx="908273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82112" y="146304"/>
            <a:ext cx="8716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Executive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804672"/>
            <a:ext cx="871697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19">
                <a:solidFill>
                  <a:srgbClr val="1C1E28"/>
                </a:solidFill>
              </a:defRPr>
            </a:pPr>
            <a:r>
              <a:t>What this orchestrator design delivers to programs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45536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45536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Objective &amp; Scope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36976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4F60"/>
                </a:solidFill>
              </a:defRPr>
            </a:pPr>
            <a:r>
              <a:t>Combine stage governance, model control, and optimization loops into one compact modernization operating model.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0442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30442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03594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Detailed Functional Capabilities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Predictable stage-wise delivery progression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Higher artifact quality through iterative refinement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Better decision quality with recommendation support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Reduced rework and improved execution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15348" y="1097280"/>
            <a:ext cx="285689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15348" y="1097280"/>
            <a:ext cx="2856890" cy="25603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88500" y="1143000"/>
            <a:ext cx="271058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 b="1">
                <a:solidFill>
                  <a:srgbClr val="1C1E28"/>
                </a:solidFill>
              </a:defRPr>
            </a:pPr>
            <a:r>
              <a:t>Controls &amp; Checkpoints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6788" y="1426464"/>
            <a:ext cx="267401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4A4F60"/>
                </a:solidFill>
              </a:defRPr>
            </a:pPr>
            <a:r>
              <a:t>• Clear checkpoints for governance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Compact, review-ready functional artifacts</a:t>
            </a:r>
          </a:p>
          <a:p>
            <a:pPr>
              <a:defRPr sz="860">
                <a:solidFill>
                  <a:srgbClr val="4A4F60"/>
                </a:solidFill>
              </a:defRPr>
            </a:pPr>
            <a:r>
              <a:t>• Continuous stakeholder visibility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45536" y="3493008"/>
            <a:ext cx="8790127" cy="1005840"/>
          </a:xfrm>
          <a:prstGeom prst="roundRect">
            <a:avLst/>
          </a:prstGeom>
          <a:solidFill>
            <a:srgbClr val="FAFAFD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36976" y="3566160"/>
            <a:ext cx="8607247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1C1E28"/>
                </a:solidFill>
              </a:defRPr>
            </a:pPr>
            <a:r>
              <a:t>Operational 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36976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40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Input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82696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Program goals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2993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479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AI Processing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7565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Orchestrated execution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2289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7775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Human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861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Review governance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15855" y="3794760"/>
            <a:ext cx="2119807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870719" y="3849624"/>
            <a:ext cx="201007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10" b="1">
                <a:solidFill>
                  <a:srgbClr val="1C1E28"/>
                </a:solidFill>
              </a:defRPr>
            </a:pPr>
            <a:r>
              <a:t>Approved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61575" y="4005072"/>
            <a:ext cx="20283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60">
                <a:solidFill>
                  <a:srgbClr val="4A4F60"/>
                </a:solidFill>
              </a:defRPr>
            </a:pPr>
            <a:r>
              <a:t>Measured modernization value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145536" y="4617720"/>
            <a:ext cx="8790127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6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145536" y="4617720"/>
            <a:ext cx="8790127" cy="256032"/>
          </a:xfrm>
          <a:prstGeom prst="rect">
            <a:avLst/>
          </a:prstGeom>
          <a:solidFill>
            <a:srgbClr val="2E2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55264" y="4663440"/>
            <a:ext cx="85706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 b="1">
                <a:solidFill>
                  <a:srgbClr val="FFFFFF"/>
                </a:solidFill>
              </a:defRPr>
            </a:pPr>
            <a:r>
              <a:t>Business Value &amp; Expected 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73552" y="4937760"/>
            <a:ext cx="8534095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40">
                <a:solidFill>
                  <a:srgbClr val="4A4F60"/>
                </a:solidFill>
              </a:defRPr>
            </a:pPr>
            <a:r>
              <a:t>Net result: professional, controlled, and faster modernization delivery with stronger business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1891</Words>
  <Application>Microsoft Macintosh PowerPoint</Application>
  <PresentationFormat>Widescreen</PresentationFormat>
  <Paragraphs>441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Arindam Bose</cp:lastModifiedBy>
  <cp:revision>2</cp:revision>
  <dcterms:created xsi:type="dcterms:W3CDTF">2013-01-27T09:14:16Z</dcterms:created>
  <dcterms:modified xsi:type="dcterms:W3CDTF">2026-06-10T16:43:54Z</dcterms:modified>
  <cp:category/>
</cp:coreProperties>
</file>